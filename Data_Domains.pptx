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2414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2834640" cy="2834640"/>
          </a:xfrm>
          <a:prstGeom prst="ellipse">
            <a:avLst/>
          </a:prstGeom>
          <a:solidFill>
            <a:srgbClr val="4E2E63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4E2E6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029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2B70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29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457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5029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2224" y="5029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C9A6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76272" y="5029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8B6B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5029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6478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5029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8A829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8416" y="5029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D235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Domains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5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every dataset's real-world shape to the right visual form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· Categorical · Temporal · Spatial · Hierarchical · Network · Textual · Multivariate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" cy="512064"/>
          </a:xfrm>
          <a:prstGeom prst="ellipse">
            <a:avLst/>
          </a:prstGeom>
          <a:solidFill>
            <a:srgbClr val="F8F6FB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562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Domain?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2037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shape of a dataset, beyond scale and type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01568"/>
            <a:ext cx="512064" cy="512064"/>
          </a:xfrm>
          <a:prstGeom prst="ellipse">
            <a:avLst/>
          </a:prstGeom>
          <a:solidFill>
            <a:srgbClr val="F8F6FB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01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337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Major Domains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685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plain numbers to networks and free text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82896"/>
            <a:ext cx="512064" cy="512064"/>
          </a:xfrm>
          <a:prstGeom prst="ellipse">
            <a:avLst/>
          </a:prstGeom>
          <a:solidFill>
            <a:srgbClr val="F8F6FB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828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8188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Deep Dives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166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examples, and go-to charts for each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1920240"/>
            <a:ext cx="512064" cy="512064"/>
          </a:xfrm>
          <a:prstGeom prst="ellipse">
            <a:avLst/>
          </a:prstGeom>
          <a:solidFill>
            <a:srgbClr val="F8F6FB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9202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18562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Detection Checklist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22037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identify a new dataset's domain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3401568"/>
            <a:ext cx="512064" cy="512064"/>
          </a:xfrm>
          <a:prstGeom prst="ellipse">
            <a:avLst/>
          </a:prstGeom>
          <a:solidFill>
            <a:srgbClr val="F8F6FB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401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3337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Charts to Domain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3685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map from structure to chart form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4882896"/>
            <a:ext cx="512064" cy="512064"/>
          </a:xfrm>
          <a:prstGeom prst="ellipse">
            <a:avLst/>
          </a:prstGeom>
          <a:solidFill>
            <a:srgbClr val="F8F6FB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48828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48188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Domains &amp; Mistakes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5166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blend domains — and how that goes wrong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 Domain?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domain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real-world structure a dataset represents — a sequence in time, a location in space, a hierarchy, a network of relationships, or plain numbers and categories.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8F6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76148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as scale: 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describes a dataset's overall shape; measurement level (nominal, ordinal...) describes a single column.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895344"/>
            <a:ext cx="128016" cy="12801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3075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valid chart families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scale or color even enter the conversation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553712"/>
            <a:ext cx="128016" cy="12801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891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numbers, different shapes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hierarchy vs. a flat table needs an entirely different chart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28016" cy="12801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474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it early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34009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wasted effort forcing data into the wrong visual form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870448"/>
            <a:ext cx="128016" cy="12801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70585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mix domains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99846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tables combine two or more domains at once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95160" y="1554480"/>
            <a:ext cx="4617720" cy="4754880"/>
          </a:xfrm>
          <a:prstGeom prst="roundRect">
            <a:avLst>
              <a:gd name="adj" fmla="val 2376"/>
            </a:avLst>
          </a:prstGeom>
          <a:solidFill>
            <a:srgbClr val="3D2352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81051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5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DIFFERENT LENSES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81060" y="22402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4E2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1060" y="2240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04020" y="2743200"/>
            <a:ext cx="-1560195" cy="502920"/>
          </a:xfrm>
          <a:prstGeom prst="line">
            <a:avLst/>
          </a:prstGeom>
          <a:noFill/>
          <a:ln w="12700">
            <a:solidFill>
              <a:srgbClr val="E5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3246120"/>
            <a:ext cx="811530" cy="822960"/>
          </a:xfrm>
          <a:prstGeom prst="roundRect">
            <a:avLst>
              <a:gd name="adj" fmla="val 9014"/>
            </a:avLst>
          </a:prstGeom>
          <a:solidFill>
            <a:srgbClr val="3B82A0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3749040"/>
            <a:ext cx="9029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04020" y="2743200"/>
            <a:ext cx="-611505" cy="502920"/>
          </a:xfrm>
          <a:prstGeom prst="line">
            <a:avLst/>
          </a:prstGeom>
          <a:noFill/>
          <a:ln w="12700">
            <a:solidFill>
              <a:srgbClr val="E5DD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5330" y="3246120"/>
            <a:ext cx="811530" cy="822960"/>
          </a:xfrm>
          <a:prstGeom prst="roundRect">
            <a:avLst>
              <a:gd name="adj" fmla="val 9014"/>
            </a:avLst>
          </a:prstGeom>
          <a:solidFill>
            <a:srgbClr val="4C9A6A"/>
          </a:solidFill>
          <a:ln/>
        </p:spPr>
      </p:sp>
      <p:sp>
        <p:nvSpPr>
          <p:cNvPr id="28" name="Text 26"/>
          <p:cNvSpPr/>
          <p:nvPr/>
        </p:nvSpPr>
        <p:spPr>
          <a:xfrm>
            <a:off x="8309610" y="3749040"/>
            <a:ext cx="9029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304020" y="2743200"/>
            <a:ext cx="337185" cy="502920"/>
          </a:xfrm>
          <a:prstGeom prst="line">
            <a:avLst/>
          </a:prstGeom>
          <a:noFill/>
          <a:ln w="12700">
            <a:solidFill>
              <a:srgbClr val="E5DD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04020" y="3246120"/>
            <a:ext cx="811530" cy="822960"/>
          </a:xfrm>
          <a:prstGeom prst="roundRect">
            <a:avLst>
              <a:gd name="adj" fmla="val 9014"/>
            </a:avLst>
          </a:prstGeom>
          <a:solidFill>
            <a:srgbClr val="8B6BB0"/>
          </a:solidFill>
          <a:ln/>
        </p:spPr>
      </p:sp>
      <p:sp>
        <p:nvSpPr>
          <p:cNvPr id="31" name="Text 29"/>
          <p:cNvSpPr/>
          <p:nvPr/>
        </p:nvSpPr>
        <p:spPr>
          <a:xfrm>
            <a:off x="9258300" y="3749040"/>
            <a:ext cx="9029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304020" y="2743200"/>
            <a:ext cx="1285875" cy="502920"/>
          </a:xfrm>
          <a:prstGeom prst="line">
            <a:avLst/>
          </a:prstGeom>
          <a:noFill/>
          <a:ln w="12700">
            <a:solidFill>
              <a:srgbClr val="E5D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52710" y="3246120"/>
            <a:ext cx="811530" cy="822960"/>
          </a:xfrm>
          <a:prstGeom prst="roundRect">
            <a:avLst>
              <a:gd name="adj" fmla="val 9014"/>
            </a:avLst>
          </a:prstGeom>
          <a:solidFill>
            <a:srgbClr val="D6478A"/>
          </a:solidFill>
          <a:ln/>
        </p:spPr>
      </p:sp>
      <p:sp>
        <p:nvSpPr>
          <p:cNvPr id="34" name="Text 32"/>
          <p:cNvSpPr/>
          <p:nvPr/>
        </p:nvSpPr>
        <p:spPr>
          <a:xfrm>
            <a:off x="10206990" y="3749040"/>
            <a:ext cx="9029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69480" y="429768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5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rows can be read as a timeline, a map, a tree, or a network — depending on which relationships you draw out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2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of Every Visualization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149840" cy="1234440"/>
          </a:xfrm>
          <a:prstGeom prst="roundRect">
            <a:avLst>
              <a:gd name="adj" fmla="val 7407"/>
            </a:avLst>
          </a:prstGeom>
          <a:solidFill>
            <a:srgbClr val="4E2E6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7627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of Measurement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48716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Nominal, ordinal, interval, or ratio — properties of a single column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21488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41433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2148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→ Ratio scale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88720" y="3337560"/>
            <a:ext cx="8869680" cy="1234440"/>
          </a:xfrm>
          <a:prstGeom prst="roundRect">
            <a:avLst>
              <a:gd name="adj" fmla="val 7407"/>
            </a:avLst>
          </a:prstGeom>
          <a:solidFill>
            <a:srgbClr val="4E2E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359359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48840" y="3502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Domain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48840" y="39044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Numerical, categorical, temporal, spatial... — the dataset's overall structure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0" y="356616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41433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35661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table → Multivariate + Temporal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0" y="4754880"/>
            <a:ext cx="7589520" cy="1234440"/>
          </a:xfrm>
          <a:prstGeom prst="roundRect">
            <a:avLst>
              <a:gd name="adj" fmla="val 7407"/>
            </a:avLst>
          </a:prstGeom>
          <a:solidFill>
            <a:srgbClr val="4E2E6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03120" y="501091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5010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88920" y="49194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Type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788920" y="532180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visual form, informed by both layers above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75120" y="49834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41433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4983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Line chart of monthly revenue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5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focuses on layer 2 — the structural domain that narrows down which chart families make sense at all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EIGHT DOMAINS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 Major Data Domains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78608" cy="2057400"/>
          </a:xfrm>
          <a:prstGeom prst="roundRect">
            <a:avLst>
              <a:gd name="adj" fmla="val 4444"/>
            </a:avLst>
          </a:prstGeom>
          <a:solidFill>
            <a:srgbClr val="F2B70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quantities — amounts, counts, measurements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1691640"/>
            <a:ext cx="2578608" cy="2057400"/>
          </a:xfrm>
          <a:prstGeom prst="roundRect">
            <a:avLst>
              <a:gd name="adj" fmla="val 4444"/>
            </a:avLst>
          </a:prstGeom>
          <a:solidFill>
            <a:srgbClr val="E4572E"/>
          </a:solidFill>
          <a:ln/>
        </p:spPr>
      </p:sp>
      <p:sp>
        <p:nvSpPr>
          <p:cNvPr id="10" name="Shape 8"/>
          <p:cNvSpPr/>
          <p:nvPr/>
        </p:nvSpPr>
        <p:spPr>
          <a:xfrm>
            <a:off x="3465576" y="1892808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65576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7288" y="23774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47288" y="2770632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usually unordered groups or labels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0176" y="1691640"/>
            <a:ext cx="2578608" cy="2057400"/>
          </a:xfrm>
          <a:prstGeom prst="roundRect">
            <a:avLst>
              <a:gd name="adj" fmla="val 4444"/>
            </a:avLst>
          </a:prstGeom>
          <a:solidFill>
            <a:srgbClr val="3B8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1344" y="1892808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63056" y="23774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63056" y="2770632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to points or intervals in 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95944" y="1691640"/>
            <a:ext cx="2578608" cy="2057400"/>
          </a:xfrm>
          <a:prstGeom prst="roundRect">
            <a:avLst>
              <a:gd name="adj" fmla="val 4444"/>
            </a:avLst>
          </a:prstGeom>
          <a:solidFill>
            <a:srgbClr val="4C9A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897112" y="1892808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897112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78824" y="237744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78824" y="2770632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to a location in physical space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2578608" cy="2057400"/>
          </a:xfrm>
          <a:prstGeom prst="roundRect">
            <a:avLst>
              <a:gd name="adj" fmla="val 4444"/>
            </a:avLst>
          </a:prstGeom>
          <a:solidFill>
            <a:srgbClr val="8B6BB0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133088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6177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5010912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parent-child levels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4408" y="3931920"/>
            <a:ext cx="2578608" cy="2057400"/>
          </a:xfrm>
          <a:prstGeom prst="roundRect">
            <a:avLst>
              <a:gd name="adj" fmla="val 4444"/>
            </a:avLst>
          </a:prstGeom>
          <a:solidFill>
            <a:srgbClr val="D6478A"/>
          </a:solidFill>
          <a:ln/>
        </p:spPr>
      </p:sp>
      <p:sp>
        <p:nvSpPr>
          <p:cNvPr id="30" name="Shape 28"/>
          <p:cNvSpPr/>
          <p:nvPr/>
        </p:nvSpPr>
        <p:spPr>
          <a:xfrm>
            <a:off x="3465576" y="4133088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465576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47288" y="46177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47288" y="5010912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connected by many-to-many relationships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0176" y="3931920"/>
            <a:ext cx="2578608" cy="2057400"/>
          </a:xfrm>
          <a:prstGeom prst="roundRect">
            <a:avLst>
              <a:gd name="adj" fmla="val 4444"/>
            </a:avLst>
          </a:prstGeom>
          <a:solidFill>
            <a:srgbClr val="8A8296"/>
          </a:solidFill>
          <a:ln/>
        </p:spPr>
      </p:sp>
      <p:sp>
        <p:nvSpPr>
          <p:cNvPr id="35" name="Shape 33"/>
          <p:cNvSpPr/>
          <p:nvPr/>
        </p:nvSpPr>
        <p:spPr>
          <a:xfrm>
            <a:off x="6181344" y="4133088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181344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63056" y="46177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Textual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63056" y="5010912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or semi-structured language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695944" y="3931920"/>
            <a:ext cx="2578608" cy="2057400"/>
          </a:xfrm>
          <a:prstGeom prst="roundRect">
            <a:avLst>
              <a:gd name="adj" fmla="val 4444"/>
            </a:avLst>
          </a:prstGeom>
          <a:solidFill>
            <a:srgbClr val="3D2352"/>
          </a:solidFill>
          <a:ln/>
        </p:spPr>
      </p:sp>
      <p:sp>
        <p:nvSpPr>
          <p:cNvPr id="40" name="Shape 38"/>
          <p:cNvSpPr/>
          <p:nvPr/>
        </p:nvSpPr>
        <p:spPr>
          <a:xfrm>
            <a:off x="8897112" y="4133088"/>
            <a:ext cx="365760" cy="365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897112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878824" y="46177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78824" y="5010912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attributes measured per single record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DOMAIN DEEP DIVE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&amp; Categorical Domains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8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B705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quantities — amounts, counts, or measurements — with no inherent time, space, or hierarchy of their own.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81304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scores, temperatures, prices, weights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4764024"/>
            <a:ext cx="182880" cy="18288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663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5221224"/>
            <a:ext cx="182880" cy="18288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51206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5778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5678424"/>
            <a:ext cx="182880" cy="18288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5577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8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940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4572E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629400" y="26517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grouped into named, usually unordered classes with no numeric magnitude between them.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5661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381304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category, survey response, country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438912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46634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39128" y="4764024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4663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29400" y="51206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39128" y="5221224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51206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(few slices)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29400" y="55778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39128" y="5678424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5577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DOMAIN DEEP DIVE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&amp; Spatial Domains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8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82A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anchored to specific points or intervals in time, with an inherent, non-negotiable order.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81304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prices, hourly traffic, project timelines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4764024"/>
            <a:ext cx="182880" cy="182880"/>
          </a:xfrm>
          <a:prstGeom prst="ellipse">
            <a:avLst/>
          </a:prstGeom>
          <a:solidFill>
            <a:srgbClr val="3B82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663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5221224"/>
            <a:ext cx="182880" cy="182880"/>
          </a:xfrm>
          <a:prstGeom prst="ellipse">
            <a:avLst/>
          </a:prstGeom>
          <a:solidFill>
            <a:srgbClr val="3B82A0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51206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heatmap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5778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5678424"/>
            <a:ext cx="182880" cy="182880"/>
          </a:xfrm>
          <a:prstGeom prst="ellipse">
            <a:avLst/>
          </a:prstGeom>
          <a:solidFill>
            <a:srgbClr val="3B82A0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5577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8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940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C9A6A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629400" y="26517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anchored to a location in physical space — coordinates, regions, or addresses.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5661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381304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locations, disease by region, delivery routes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438912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46634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39128" y="4764024"/>
            <a:ext cx="182880" cy="182880"/>
          </a:xfrm>
          <a:prstGeom prst="ellipse">
            <a:avLst/>
          </a:prstGeom>
          <a:solidFill>
            <a:srgbClr val="4C9A6A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4663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29400" y="51206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39128" y="5221224"/>
            <a:ext cx="182880" cy="182880"/>
          </a:xfrm>
          <a:prstGeom prst="ellipse">
            <a:avLst/>
          </a:prstGeom>
          <a:solidFill>
            <a:srgbClr val="4C9A6A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51206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density map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29400" y="55778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39128" y="5678424"/>
            <a:ext cx="182880" cy="182880"/>
          </a:xfrm>
          <a:prstGeom prst="ellipse">
            <a:avLst/>
          </a:prstGeom>
          <a:solidFill>
            <a:srgbClr val="4C9A6A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5577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DOMAIN DEEP DIVE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&amp; Network Domains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8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6BB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organized into nested parent-child levels, where each item belongs to exactly one parent.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81304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charts, file directories, category trees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4764024"/>
            <a:ext cx="182880" cy="182880"/>
          </a:xfrm>
          <a:prstGeom prst="ellipse">
            <a:avLst/>
          </a:prstGeom>
          <a:solidFill>
            <a:srgbClr val="8B6BB0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663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diagram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5221224"/>
            <a:ext cx="182880" cy="182880"/>
          </a:xfrm>
          <a:prstGeom prst="ellipse">
            <a:avLst/>
          </a:prstGeom>
          <a:solidFill>
            <a:srgbClr val="8B6BB0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51206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5778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5678424"/>
            <a:ext cx="182880" cy="182880"/>
          </a:xfrm>
          <a:prstGeom prst="ellipse">
            <a:avLst/>
          </a:prstGeom>
          <a:solidFill>
            <a:srgbClr val="8B6BB0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5577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Sunburst chart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8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940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6478A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629400" y="26517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(nodes) connected by relationships (edges), where connections can be many-to-many.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5661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381304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networks, flight routes, citation graphs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438912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46634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39128" y="4764024"/>
            <a:ext cx="182880" cy="182880"/>
          </a:xfrm>
          <a:prstGeom prst="ellipse">
            <a:avLst/>
          </a:prstGeom>
          <a:solidFill>
            <a:srgbClr val="D6478A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4663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Node-link diagram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29400" y="51206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39128" y="5221224"/>
            <a:ext cx="182880" cy="182880"/>
          </a:xfrm>
          <a:prstGeom prst="ellipse">
            <a:avLst/>
          </a:prstGeom>
          <a:solidFill>
            <a:srgbClr val="D6478A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51206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29400" y="55778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39128" y="5678424"/>
            <a:ext cx="182880" cy="182880"/>
          </a:xfrm>
          <a:prstGeom prst="ellipse">
            <a:avLst/>
          </a:prstGeom>
          <a:solidFill>
            <a:srgbClr val="D6478A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5577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diagram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DOMAIN DEEP DIVE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Textual &amp; Multivariate Domains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8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A8296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Textual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or semi-structured language data — documents, reviews, or transcripts.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81304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reviews, open-ended survey answers, tweets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4764024"/>
            <a:ext cx="182880" cy="182880"/>
          </a:xfrm>
          <a:prstGeom prst="ellipse">
            <a:avLst/>
          </a:prstGeom>
          <a:solidFill>
            <a:srgbClr val="8A8296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663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5221224"/>
            <a:ext cx="182880" cy="182880"/>
          </a:xfrm>
          <a:prstGeom prst="ellipse">
            <a:avLst/>
          </a:prstGeom>
          <a:solidFill>
            <a:srgbClr val="8A8296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51206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Term-frequency bar chart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5778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5678424"/>
            <a:ext cx="182880" cy="182880"/>
          </a:xfrm>
          <a:prstGeom prst="ellipse">
            <a:avLst/>
          </a:prstGeom>
          <a:solidFill>
            <a:srgbClr val="8A8296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5577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highlighting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8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940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D2352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629400" y="26517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attributes measured on each record simultaneously, often blending other domains at once.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5661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381304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car specifications, product catalogs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438912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46634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39128" y="4764024"/>
            <a:ext cx="182880" cy="182880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46634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coordinates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29400" y="51206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39128" y="5221224"/>
            <a:ext cx="182880" cy="182880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51206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 matrix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29400" y="55778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39128" y="5678424"/>
            <a:ext cx="182880" cy="182880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5577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PRACTICAL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Domain Detection Checklist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 of a new dataset, in order, to identify which domains are in play.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8F6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93976"/>
            <a:ext cx="365760" cy="365760"/>
          </a:xfrm>
          <a:prstGeom prst="ellipse">
            <a:avLst/>
          </a:prstGeom>
          <a:solidFill>
            <a:srgbClr val="E4F3E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row have a timestamp or date?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32520" y="196596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0" y="2048256"/>
            <a:ext cx="2011680" cy="457200"/>
          </a:xfrm>
          <a:prstGeom prst="roundRect">
            <a:avLst>
              <a:gd name="adj" fmla="val 36000"/>
            </a:avLst>
          </a:prstGeom>
          <a:solidFill>
            <a:srgbClr val="3B82A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20482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8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843784"/>
            <a:ext cx="365760" cy="365760"/>
          </a:xfrm>
          <a:prstGeom prst="ellipse">
            <a:avLst/>
          </a:prstGeom>
          <a:solidFill>
            <a:srgbClr val="E4F3E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715768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row have coordinates, an address, or a named region?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32520" y="2715768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0" y="2798064"/>
            <a:ext cx="2011680" cy="457200"/>
          </a:xfrm>
          <a:prstGeom prst="roundRect">
            <a:avLst>
              <a:gd name="adj" fmla="val 36000"/>
            </a:avLst>
          </a:prstGeom>
          <a:solidFill>
            <a:srgbClr val="4C9A6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7980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65576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8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593592"/>
            <a:ext cx="365760" cy="365760"/>
          </a:xfrm>
          <a:prstGeom prst="ellipse">
            <a:avLst/>
          </a:prstGeom>
          <a:solidFill>
            <a:srgbClr val="E4F3E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593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465576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row point to exactly one "parent" row?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732520" y="3465576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0" y="3547872"/>
            <a:ext cx="2011680" cy="457200"/>
          </a:xfrm>
          <a:prstGeom prst="roundRect">
            <a:avLst>
              <a:gd name="adj" fmla="val 36000"/>
            </a:avLst>
          </a:prstGeom>
          <a:solidFill>
            <a:srgbClr val="8B6BB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3547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215384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8F6FB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4343400"/>
            <a:ext cx="365760" cy="365760"/>
          </a:xfrm>
          <a:prstGeom prst="ellipse">
            <a:avLst/>
          </a:prstGeom>
          <a:solidFill>
            <a:srgbClr val="E4F3E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4215384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rows reference each other in a many-to-many way?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732520" y="4215384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0" y="4297680"/>
            <a:ext cx="2011680" cy="457200"/>
          </a:xfrm>
          <a:prstGeom prst="roundRect">
            <a:avLst>
              <a:gd name="adj" fmla="val 36000"/>
            </a:avLst>
          </a:prstGeom>
          <a:solidFill>
            <a:srgbClr val="D6478A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965192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8F6FB"/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5093208"/>
            <a:ext cx="365760" cy="365760"/>
          </a:xfrm>
          <a:prstGeom prst="ellipse">
            <a:avLst/>
          </a:prstGeom>
          <a:solidFill>
            <a:srgbClr val="E4F3EF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093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25880" y="4965192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column of free-form sentences or paragraphs?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732520" y="4965192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44000" y="5047488"/>
            <a:ext cx="2011680" cy="457200"/>
          </a:xfrm>
          <a:prstGeom prst="roundRect">
            <a:avLst>
              <a:gd name="adj" fmla="val 36000"/>
            </a:avLst>
          </a:prstGeom>
          <a:solidFill>
            <a:srgbClr val="8A8296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0" y="5047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71500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8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777240" y="5843016"/>
            <a:ext cx="365760" cy="365760"/>
          </a:xfrm>
          <a:prstGeom prst="ellipse">
            <a:avLst/>
          </a:prstGeom>
          <a:solidFill>
            <a:srgbClr val="E4F3EF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5843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325880" y="5715000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many numeric/categorical columns with no other structure?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732520" y="571500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144000" y="5797296"/>
            <a:ext cx="2011680" cy="457200"/>
          </a:xfrm>
          <a:prstGeom prst="roundRect">
            <a:avLst>
              <a:gd name="adj" fmla="val 36000"/>
            </a:avLst>
          </a:prstGeom>
          <a:solidFill>
            <a:srgbClr val="3D2352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0" y="57972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2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MATCHING CHARTS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Chart Types to Domain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F2B70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46020"/>
            <a:ext cx="146304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74570"/>
            <a:ext cx="146304" cy="377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377440"/>
            <a:ext cx="146304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2171700"/>
            <a:ext cx="146304" cy="4800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2308860"/>
            <a:ext cx="146304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69164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E457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3008" y="2377440"/>
            <a:ext cx="219456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785616" y="2137410"/>
            <a:ext cx="219456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78224" y="2274570"/>
            <a:ext cx="219456" cy="377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47288" y="283464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47288" y="31546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0176" y="169164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3B82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2468880"/>
            <a:ext cx="320040" cy="-27432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8816" y="2194560"/>
            <a:ext cx="320040" cy="27432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48856" y="2468880"/>
            <a:ext cx="274320" cy="-41148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283464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63056" y="31546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95944" y="169164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4C9A6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24544" y="196596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3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44584" y="196596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61704" y="228600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78824" y="283464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878824" y="31546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8B6B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" y="41148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5568" y="4261104"/>
            <a:ext cx="-228600" cy="3200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5720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15568" y="4261104"/>
            <a:ext cx="182880" cy="3200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34440" y="45720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9834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" y="53035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Diagram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64408" y="384048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D6478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93592" y="4261104"/>
            <a:ext cx="411480" cy="-914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93592" y="4261104"/>
            <a:ext cx="228600" cy="3200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22192" y="4581144"/>
            <a:ext cx="320040" cy="914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38728" y="4206240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3767328" y="4526280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087368" y="4617720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447288" y="49834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447288" y="53035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Node-Link Diagram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80176" y="384048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8A829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08776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620256" y="4389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00216" y="4526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63056" y="49834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Textual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163056" y="53035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695944" y="384048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3D235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24544" y="4114800"/>
            <a:ext cx="0" cy="6858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53144" y="4114800"/>
            <a:ext cx="0" cy="6858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81744" y="4114800"/>
            <a:ext cx="0" cy="6858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10344" y="4114800"/>
            <a:ext cx="0" cy="6858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24544" y="4297680"/>
            <a:ext cx="228600" cy="32004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53144" y="4617720"/>
            <a:ext cx="228600" cy="-36576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81744" y="4251960"/>
            <a:ext cx="228600" cy="27432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78824" y="49834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8878824" y="530352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Coordinates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MIXED DOMAINS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Datasets Mix Domains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e-commerce orders table — nearly every column belongs to a different domain.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3D235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VALUE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0664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8686800" cy="438912"/>
          </a:xfrm>
          <a:prstGeom prst="roundRect">
            <a:avLst>
              <a:gd name="adj" fmla="val 10417"/>
            </a:avLst>
          </a:prstGeom>
          <a:solidFill>
            <a:srgbClr val="F8F6F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9631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0" y="249631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06640" y="2551176"/>
            <a:ext cx="1600200" cy="329184"/>
          </a:xfrm>
          <a:prstGeom prst="roundRect">
            <a:avLst>
              <a:gd name="adj" fmla="val 44444"/>
            </a:avLst>
          </a:prstGeom>
          <a:solidFill>
            <a:srgbClr val="3B82A0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255117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8686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2666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Address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0" y="302666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221B Baker St, London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0" y="3081528"/>
            <a:ext cx="1600200" cy="329184"/>
          </a:xfrm>
          <a:prstGeom prst="roundRect">
            <a:avLst>
              <a:gd name="adj" fmla="val 44444"/>
            </a:avLst>
          </a:prstGeom>
          <a:solidFill>
            <a:srgbClr val="4C9A6A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308152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57016"/>
            <a:ext cx="8686800" cy="438912"/>
          </a:xfrm>
          <a:prstGeom prst="roundRect">
            <a:avLst>
              <a:gd name="adj" fmla="val 10417"/>
            </a:avLst>
          </a:prstGeom>
          <a:solidFill>
            <a:srgbClr val="F8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570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0" y="355701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&gt; Audio &gt; Headphones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06640" y="3611880"/>
            <a:ext cx="1600200" cy="329184"/>
          </a:xfrm>
          <a:prstGeom prst="roundRect">
            <a:avLst>
              <a:gd name="adj" fmla="val 44444"/>
            </a:avLst>
          </a:prstGeom>
          <a:solidFill>
            <a:srgbClr val="8B6BB0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361188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8686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0873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Amount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00400" y="408736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$149.99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06640" y="4142232"/>
            <a:ext cx="1600200" cy="329184"/>
          </a:xfrm>
          <a:prstGeom prst="roundRect">
            <a:avLst>
              <a:gd name="adj" fmla="val 44444"/>
            </a:avLst>
          </a:prstGeom>
          <a:solidFill>
            <a:srgbClr val="F2B705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4142232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8686800" cy="438912"/>
          </a:xfrm>
          <a:prstGeom prst="roundRect">
            <a:avLst>
              <a:gd name="adj" fmla="val 10417"/>
            </a:avLst>
          </a:prstGeom>
          <a:solidFill>
            <a:srgbClr val="F8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6177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Method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00400" y="46177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Express, Pickup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06640" y="4672584"/>
            <a:ext cx="1600200" cy="329184"/>
          </a:xfrm>
          <a:prstGeom prst="roundRect">
            <a:avLst>
              <a:gd name="adj" fmla="val 44444"/>
            </a:avLst>
          </a:prstGeom>
          <a:solidFill>
            <a:srgbClr val="E4572E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467258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148072"/>
            <a:ext cx="8686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1480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00400" y="514807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"Great sound, fast delivery..."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06640" y="5202936"/>
            <a:ext cx="1600200" cy="329184"/>
          </a:xfrm>
          <a:prstGeom prst="roundRect">
            <a:avLst>
              <a:gd name="adj" fmla="val 44444"/>
            </a:avLst>
          </a:prstGeom>
          <a:solidFill>
            <a:srgbClr val="8A8296"/>
          </a:solidFill>
          <a:ln/>
        </p:spPr>
      </p:sp>
      <p:sp>
        <p:nvSpPr>
          <p:cNvPr id="38" name="Text 36"/>
          <p:cNvSpPr/>
          <p:nvPr/>
        </p:nvSpPr>
        <p:spPr>
          <a:xfrm>
            <a:off x="7406640" y="520293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678424"/>
            <a:ext cx="8686800" cy="438912"/>
          </a:xfrm>
          <a:prstGeom prst="roundRect">
            <a:avLst>
              <a:gd name="adj" fmla="val 10417"/>
            </a:avLst>
          </a:prstGeom>
          <a:solidFill>
            <a:srgbClr val="F8F6FB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67842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Referred-By Customer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200400" y="567842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between buyers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06640" y="5733288"/>
            <a:ext cx="1600200" cy="329184"/>
          </a:xfrm>
          <a:prstGeom prst="roundRect">
            <a:avLst>
              <a:gd name="adj" fmla="val 44444"/>
            </a:avLst>
          </a:prstGeom>
          <a:solidFill>
            <a:srgbClr val="D6478A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573328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6208776"/>
            <a:ext cx="8686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620877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Order Record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200400" y="620877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columns together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06640" y="6263640"/>
            <a:ext cx="1600200" cy="329184"/>
          </a:xfrm>
          <a:prstGeom prst="roundRect">
            <a:avLst>
              <a:gd name="adj" fmla="val 44444"/>
            </a:avLst>
          </a:prstGeom>
          <a:solidFill>
            <a:srgbClr val="3D2352"/>
          </a:solidFill>
          <a:ln/>
        </p:spPr>
      </p:sp>
      <p:sp>
        <p:nvSpPr>
          <p:cNvPr id="48" name="Text 46"/>
          <p:cNvSpPr/>
          <p:nvPr/>
        </p:nvSpPr>
        <p:spPr>
          <a:xfrm>
            <a:off x="7406640" y="62636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MIXED DOMAINS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When Domain Is Ignored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F8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D956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Mapless spatial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26771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geospatial data as a generic scatter plot loses spatial relationships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73736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F8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965960"/>
            <a:ext cx="384048" cy="384048"/>
          </a:xfrm>
          <a:prstGeom prst="ellipse">
            <a:avLst/>
          </a:prstGeom>
          <a:solidFill>
            <a:srgbClr val="D9564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0" y="19202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Scrambled time order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26771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 temporal bar chart by value instead of by date hides the trend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F8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D956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4747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hierarchies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82219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nested categories into a plain bar chart hides the parent-child structure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29184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F8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520440"/>
            <a:ext cx="384048" cy="384048"/>
          </a:xfrm>
          <a:prstGeom prst="ellipse">
            <a:avLst/>
          </a:prstGeom>
          <a:solidFill>
            <a:srgbClr val="D956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34747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"hairballs"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82219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every relationship in a large network produces an unreadable tangle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F8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074920"/>
            <a:ext cx="384048" cy="384048"/>
          </a:xfrm>
          <a:prstGeom prst="ellipse">
            <a:avLst/>
          </a:prstGeom>
          <a:solidFill>
            <a:srgbClr val="D9564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50292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clouds for analysis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37667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isn't importance — word clouds rarely support real textual insight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484632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F8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5074920"/>
            <a:ext cx="384048" cy="384048"/>
          </a:xfrm>
          <a:prstGeom prst="ellipse">
            <a:avLst/>
          </a:prstGeom>
          <a:solidFill>
            <a:srgbClr val="D9564A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50292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2D view of many attributes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537667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scatter plot can't represent a truly multivariate record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8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29968"/>
            <a:ext cx="384048" cy="384048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9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domain is the structural, real-world shape of a dataset — separate from any single column's measurement scale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26080"/>
            <a:ext cx="384048" cy="384048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724912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common domains: numerical, categorical, temporal, spatial, hierarchical, network, textual, and multivariate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21024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8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822192"/>
            <a:ext cx="384048" cy="384048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2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621024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determines which chart families are valid before scale, color, or aesthetics even enter the picture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D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718304"/>
            <a:ext cx="384048" cy="384048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18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517136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datasets mix several domains — identify each column's role before you design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13248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8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614416"/>
            <a:ext cx="384048" cy="384048"/>
          </a:xfrm>
          <a:prstGeom prst="ellipse">
            <a:avLst/>
          </a:prstGeom>
          <a:solidFill>
            <a:srgbClr val="3D235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14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413248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ask: does this data have inherent time, space, hierarchy, or connections?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D2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24143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4E2E63"/>
          </a:solidFill>
          <a:ln/>
        </p:spPr>
      </p:sp>
      <p:sp>
        <p:nvSpPr>
          <p:cNvPr id="4" name="Shape 2"/>
          <p:cNvSpPr/>
          <p:nvPr/>
        </p:nvSpPr>
        <p:spPr>
          <a:xfrm>
            <a:off x="3977640" y="27889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F2B70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9704" y="27889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1768" y="27889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3B82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13832" y="27889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4C9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25896" y="27889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8B6B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27889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D647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0024" y="27889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8A82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62088" y="27889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3D23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29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Domains · Data Visualization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2026-08-11T05:58:01Z</dcterms:created>
  <dcterms:modified xsi:type="dcterms:W3CDTF">2026-08-11T05:58:01Z</dcterms:modified>
</cp:coreProperties>
</file>